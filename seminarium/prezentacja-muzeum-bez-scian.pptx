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Uwagi wykonawcze: tempo spokojne, ok. 120 słów na minutę, całość ~14 minut.</a:t>
            </a:r>
          </a:p>
          <a:p>
            <a:r>
              <a:t>Nie spieszyć się. Po każdym zdaniu wyróżnionym na slajdzie — pełna pauza, oddech, kontakt wzrokowy z salą.</a:t>
            </a:r>
          </a:p>
          <a:p>
            <a:r>
              <a:t>Ostatnie zdanie („Dziękuję.”) powiedzieć wolniej i zostać chwilę w ciszy.</a:t>
            </a:r>
          </a:p>
          <a:p>
            <a:r>
              <a:t>UZUPEŁNIĆ przed wygłoszeniem: imię i nazwisko, instytucja, data, miejsce seminarium.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Wiersz czytamy spokojnie, wolniej niż resztę wystąpienia. Didaskalia w nawiasach („zamknijmy oczy”) mówimy, nie czytamy z kartki.</a:t>
            </a:r>
          </a:p>
          <a:p>
            <a:r>
              <a:t>Po ostatniej linijce — pauza 2–3 sekundy, dopiero potem przejście dalej.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 wierszu od razu teza całego wystąpienia (slajd następny).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zdanie jest osią całego wystąpienia — wracamy do niego w zakończeniu.</a:t>
            </a:r>
          </a:p>
          <a:p>
            <a:r>
              <a:t>Po wypowiedzeniu: pauza.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wprowadzający w teorię — mówimy spokojnie, bez pośpiechu.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Gdy trzeba skrócić do 10 minut: zostaw z tego slajdu trzy zdania zamiast całego akapitu — oszczędność ok. 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 emocjonalny — nie przyspieszać. Cytat starszej pani przytoczyć z pamięci, nie czytać z kartki.</a:t>
            </a:r>
          </a:p>
          <a:p>
            <a:r>
              <a:t>DO POTWIERDZENIA przed wygłoszeniem: dokładna data i przebieg pierwszego Marszu Pamięci przez Żory (w tekście: 2025 r.).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 warto podać przykład z własnego podwórka (wystawa z przedmiotów przyniesionych).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POTWIERZENIA: czy województwo nie prowadzi już bonu kultury / dnia z wolnym wstępem. Jeśli tak — podać nazwę programu i budżet.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Gdy skracamy do 10 minut: wymień tylko dwa z czterech punktów sieci — oszczędność ok. 15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UZUPEŁNIENIA: nazwa ulicy, przy której stoją pomnik i krzyż.</a:t>
            </a:r>
          </a:p>
          <a:p>
            <a:r>
              <a:t>Mieć pod ręką link do podcastu na Spotify na wypadek pytania z sali.</a:t>
            </a:r>
          </a:p>
          <a:p>
            <a:r>
              <a:t>Egzemplarz książki „Kierunek Loslau” do wglądu przy ustalaniu przebiegu ulic.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Gdy skracamy do 10 minut: pomiń akapit o Bawarii, zostaw nazwę i wniosek do Rady Europy — oszczędność ok. 25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POTWIERDZENIA: czy w Wodzisławiu na pewno nie ma jeszcze kamieni pamięci — zapytać lokalnych historyków lub w urzędzie miasta.</a:t>
            </a:r>
          </a:p>
          <a:p>
            <a:r>
              <a:t>Mieć kontakt do fundacji Guntera Demniga (koszt kamienia ok. 120 euro) na wypadek pytania „kto to robi?”.</a:t>
            </a:r>
          </a:p>
          <a:p>
            <a:r>
              <a:t>Pytanie o kontrowersje wokół kamieni: pamięć, o którą się dyskutuje, żyje.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Gdy skracamy do 10 minut: jedno zdanie o kamieniach, jedno o drzewach — oszczędność ok. 50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„Bo za dziesięć lat już ich nie będzie” — to zdanie zostawić w ciszy.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„wizualny” — dobrze, jeśli w wersji na rzutnik pojawi się tu zdjęcie lub szkic muralu.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Przykład do opowiedzenia: 30 sekund głosu mieszkanki, której babcia widziała przechodzącą kolumnę.</a:t>
            </a:r>
          </a:p>
          <a:p>
            <a:r>
              <a:t>Gdy skracamy do 10 minut: lista do trzech najważniejszych pozycji — oszczędność ok. 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Kluczowe zdanie do wypowiedzenia w ciszy: „Jeśli nie posadzimy obok siebie dziewięćdziesięciolatka i siedemnastolatki — jednego, który pamięta, i drugiej, która potrafi nagrać i udostępnić — to pewne historie znikną na zawsze.”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Zatrzymać się nad tym zdaniem. Pauza. Potem wiersz zamykający (slajd następny).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Czytamy wolno, z pauzami między strofami.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Gdy skracamy do 10 minut: zostaw dwa zdania — oszczędność ok. 40 s.</a:t>
            </a:r>
          </a:p>
          <a:p>
            <a:r>
              <a:t>DO SPRAWDZENIA: aktualne terminy naboru (Sendlerowa/CEO, EUSTORY, Geremek) — zmieniają się co rok.</a:t>
            </a:r>
          </a:p>
          <a:p>
            <a:r>
              <a:t>Przygotować krótkie uzasadnienie: kto z nauczycieli w powiecie zasługuje na nominację.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Kluczowa pointa: „Taki plan jest już napisany — leży w dokumentach tego projektu. Brakuje podpisów.”</a:t>
            </a:r>
          </a:p>
          <a:p>
            <a:r>
              <a:t>Gdy skracamy do 10 minut: pomiń akapit o planie współpracy — oszczędność ok. 30 s.</a:t>
            </a:r>
          </a:p>
          <a:p>
            <a:r>
              <a:t>DO USTALENIA: kto podpisuje umowę szkoła–muzeum i kiedy (pierwszy krok planu).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Ostatnie zdanie powiedzieć wolniej i zostać chwilę w ciszy.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na wypadek pytań z sali — można go zostawić na końcu prezentacji jako zaplecze źródłowe.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C9821A"/>
                </a:solidFill>
                <a:latin typeface="Arial"/>
              </a:rPr>
              <a:t>SEMINARIUM · DZIEDZICTWO I PAMIĘĆ LOKALNA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0F5132"/>
                </a:solidFill>
                <a:latin typeface="Arial"/>
              </a:rPr>
              <a:t>Muzeum bez ścian</a:t>
            </a:r>
          </a:p>
          <a:p>
            <a:pPr algn="l">
              <a:spcAft>
                <a:spcPts val="1800"/>
              </a:spcAft>
            </a:pPr>
            <a:r>
              <a:rPr sz="2000" b="0" i="0">
                <a:solidFill>
                  <a:srgbClr val="5A5A5A"/>
                </a:solidFill>
                <a:latin typeface="Arial"/>
              </a:rPr>
              <a:t>Dziedzictwo mieszka w ludziach.</a:t>
            </a:r>
            <a:br/>
            <a:r>
              <a:rPr sz="2000" b="0" i="0">
                <a:solidFill>
                  <a:srgbClr val="5A5A5A"/>
                </a:solidFill>
                <a:latin typeface="Arial"/>
              </a:rPr>
              <a:t>O muzeum partycypacyjnym, Drodze Loslau</a:t>
            </a:r>
            <a:br/>
            <a:r>
              <a:rPr sz="2000" b="0" i="0">
                <a:solidFill>
                  <a:srgbClr val="5A5A5A"/>
                </a:solidFill>
                <a:latin typeface="Arial"/>
              </a:rPr>
              <a:t>i o pamięci, którą trzeba zdążyć zapisać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Prelegentka: [imię i nazwisko]  ·  [instytucja]  ·  [data]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0F5132"/>
                </a:solidFill>
                <a:latin typeface="Arial"/>
              </a:rPr>
              <a:t>Zamknijmy na chwilę oczy…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10312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W styczniu czterdziestego piątego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mróz zaciskał dłonie na drodze.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Tysiące kroków szło ku stacji,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a miasto patrzyło zza okien.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E7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5132"/>
                </a:solidFill>
                <a:latin typeface="Arial"/>
              </a:rPr>
              <a:t>…i posłuchajmy, o co pyta ta droga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10312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Jedni odwracali wzrok.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Inni otwierali drzwi.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Czasem jeden gest wystarcza,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by ocalić w człowieku człowieka.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Ślady dawno przykrył czas,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lecz droga wciąż o coś pyta: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kiedy cudze cierpienie puka,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czy umiesz otworzyć?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0F5132"/>
                </a:solidFill>
                <a:latin typeface="Arial"/>
              </a:rPr>
              <a:t>Dziedzictwo nie mieszka w gablotach.</a:t>
            </a:r>
            <a:br/>
            <a:r>
              <a:rPr sz="4000" b="1" i="0">
                <a:solidFill>
                  <a:srgbClr val="0F5132"/>
                </a:solidFill>
                <a:latin typeface="Arial"/>
              </a:rPr>
              <a:t>Dziedzictwo mieszka w ludziach.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5A5A5A"/>
                </a:solidFill>
                <a:latin typeface="Arial"/>
              </a:rPr>
              <a:t>Zadaniem instytucji kultury jest zrobić wszystko,</a:t>
            </a:r>
            <a:br/>
            <a:r>
              <a:rPr sz="2000" b="0" i="0">
                <a:solidFill>
                  <a:srgbClr val="5A5A5A"/>
                </a:solidFill>
                <a:latin typeface="Arial"/>
              </a:rPr>
              <a:t>żeby zdążyć je od nich usłyszeć.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1. ZMIANA MODELU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Od gabloty do dialogu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Jeszcze 50 lat temu: cisza, dystans, kontemplacja — eksponat chroniony gablotą i czerwonym sznurem oddzielał widza od dzieła.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Dziś: sztuka przestaje być wyłącznie przedmiotem oglądu — staje się narzędziem dialogu społecznego.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Dziedzictwo przestaje być statycznym zasobem, chronionym przed zmianą — staje się żywym procesem współtworzonym przez mieszkańców.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Historia nie dzieje się w muzeach. Muzea tylko próbują ją dogonić.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2. TEORIA, KTÓRA ZMIENIŁA PRAKTYKĘ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Nowa muzeologia → muzeum partycypacyjne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Punkt zwrotny: ruch „nowej muzeologii” i wyrastająca z niego koncepcja muzeum partycypacyjnego.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Publiczność może tworzyć, dzielić się i łączyć wokół zbiorów.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Nie chodzi o kolejny eksponat ani kolejną salę — chodzi o to, by muzeum stało się miejscem, które się współtworzy, a nie tylko odwiedza.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3. DOWÓD Z BLISKA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Świerklany: historia, która może odejść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Podczas pierwszego Marszu Pamięci, który przeszedł trasą przez Żory (2025), wyszła przed dom starsza pani.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Ze łzami w oczach: „Miałam siedem lat wtedy i wszystko widziałam — tych więźniów to było straszne, wszystko widziałam…”.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Muzeum może mieć dokumenty. Ta pani miała historię.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Muzeum partycypacyjne nie jest modą. Jest obowiązkiem.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4. PRAKTYKA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Z odbiorców — we współgospodarzy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Sztuka partycypacyjna i site-specific to dziś stała praktyka wystawiennicza.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Wystawy powstają wspólnie z mieszkańcami — przez konsultacje i wspólne wybieranie tematów.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Przykład: doroczna wystawa budowana z przedmiotów i historii przynoszonych przez mieszkańców.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Muzeum nie musi zgadywać, co interesuje mieszkańców — może ich po prostu zapytać.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5. DOSTĘP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Kultura jako prawo, nie przywilej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Francja, Włochy, Hiszpania: bon kulturowy w aplikacji dla każdego młodego człowieka.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Wielka Brytania: muzea narodowe bezpłatne od 2001 roku.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Propozycja dla województwa: 100 zł raz w roku dla każdego ucznia — do wydania wyłącznie w muzeach regionu.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Plus comiesięczny dzień z wolnym wstępem dla wszystkich.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Nie namawiamy. Nie przekonujemy. Otwieramy drzwi — i patrzymy, kto wejdzie.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6. MUZEUM BEZ ŚCIAN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Eko-muzeum, czyli muzeum rozproszone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Zamiast jednego budynku — całe miasto i jego okolice jako sieć punktów.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Wystawa o grodzie słowiańskim w Lubomi.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Dawny kopiec zamkowy w parku.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Wodzisławski browar.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Kościół Świętego Krzyża.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Sztuka może wyjść z sal na ulicę.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7. MUZEUM BEZ ŚCIAN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Droga Loslau: trasa, którą się przechodzi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Niewidzialna ścieżka przez Wodzisław: od granic miasta, przez konkretne ulice, aż do dworca.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Dziś trzy punkty: tablica przy ulicy Michalskiego, miejsce pamięci na dworcu, pomnik i krzyż przy ulicy.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Do zbudowania: jedna trasa — audioprzewodnik w głosach mieszkańców, kody QR otwierające archiwalne zdjęcia w miejscu zdarzenia, stacje na 10 minut.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Przebieg trasy odtworzył wodzisławski historyk Piotr Hojka; od 2012 roku idzie nią co stycznia Marsz Pamięci.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Brakuje jednego — żeby ta droga istniała także wtedy, gdy nikt nią nie idzie.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8. WZORZEC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Bawaria: droga, która istnieje zawsze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Wzdłuż trasy marszu z Dachau stanęły 22 identyczne pomniki autorstwa Huberta von Pilgrima (jedna kopia w Yad Vashem w Jerozolimie).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Dzięki nim droga istnieje, nawet gdy zmieniają się ulice, właściciele i pokolenia.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U nas: ten sam znak w Oświęcimiu, Pszczynie, Żorach, Świerklanach, Marklowicach i na wodzisławskim dworcu.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Wniosek: wpisanie trasy do Szlaku Wyzwolenia Europy — szlaku kulturowego Rady Europy.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9. FORMAT MAKSYMALNIE PARTYCYPACYJNY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Kamienie pamięci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1992 r., Kolonia: Gunter Demnig wmurowuje pierwszą kostkę z mosiężną tabliczką — imię, data, miejsce śmierci.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Dziś: ponad 120 000 kamieni w ponad 30 krajach Europy. W Polsce m.in. we Wrocławiu, Warszawie i Poznaniu.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 Wodzisławiu — jeszcze żadnego.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Kamień fundują mieszkańcy, często klasy szkolne. Jeden człowiek, jeden kamień.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Pamięć nie stoi w gablocie. Leży na chodniku, po którym codziennie przechodzimy.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10. DRUGA STRONA PAMIĘCI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Ogród Sprawiedliwych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Pierwszy ogród: Mediolan, 2003 r. Warszawski rośnie od 2014 r. — drzewo dla każdego, kto ratował innych.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U nas: choćby skwer przy pałacu — drzewa dla tych, którzy w styczniu 1945 roku otwierali drzwi.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Kamienie — dla tych, którzy szli. Drzewa — dla tych, którzy nie odwrócili wzroku.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11. INSTYTUCJA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Archiwum Pamięci Wodzisławia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Każdy mieszkaniec przynosi coś, co ma znaczenie: nagrane wspomnienie, zeskanowaną fotografię, przedmiot z historią.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Wychodzi z poczuciem, że jego życie stało się częścią historii miasta.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Pierwsze zadanie: zebrać notatki, listy, pocztówki i głosy, które jeszcze są.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Najcenniejsze eksponaty często nie leżą w magazynach. Leżą w szufladach.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12. SZTUKA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Sztuka w przestrzeni miasta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Mural złożony z archiwalnych zdjęć; ścieżka pamięci łącząca pałac z rynkiem.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Mural nie o Marszu Śmierci jako abstrakcyjnym fakcie — o jednym konkretnym geście: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      • ręka podająca kromkę chleba,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      • otwarte drzwi stodoły,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      • twarze Sprawiedliwych wśród Narodów Świata z tego regionu.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Pamięć o złu musi być. Pamięć o dobru — też. I musi być widoczna.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13. TECHNOLOGIE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Historia w kieszeni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Aplikacja AR odtwarzająca wygląd pałacu z XVIII wieku i rynek sprzed stu dwudziestu lat.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Cyfrowa rekonstrukcja wnętrz zniszczonych przed wojną.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Audioprzewodnik z głosami mieszkańców — nie lektora.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Kody QR otwierające wspomnienia; cyfrowe zbiory dostępne dla każdego.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Ulica, którą dotąd mijaliśmy obojętnie, zaczyna mówić.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14. LUDZIE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Tandemy pokoleń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Wolontariusze dziedzictwa; seniorzy jako przewodnicy po własnych wspomnieniach.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Młodzi, którzy potrafią je zapisać i udostępnić.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Żywa biblioteka, w której książką jest człowiek — w tym świadkowie Marszu Śmierci.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Tandemy przy warsztatach rzemiosła; nagrania wideo robione telefonami przez licealistów.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Mamy pięć lat. Może dziesięć.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15. POWRÓT DO PUNKTU WYJŚCIA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0F5132"/>
                </a:solidFill>
                <a:latin typeface="Arial"/>
              </a:rPr>
              <a:t>Ten pałac powstał z miłości.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5A5A5A"/>
                </a:solidFill>
                <a:latin typeface="Arial"/>
              </a:rPr>
              <a:t>A w styczniu 1945 roku, tuż obok, przechodziła kolumna,</a:t>
            </a:r>
            <a:br/>
            <a:r>
              <a:rPr sz="2000" b="0" i="0">
                <a:solidFill>
                  <a:srgbClr val="5A5A5A"/>
                </a:solidFill>
                <a:latin typeface="Arial"/>
              </a:rPr>
              <a:t>w której każdy kolejny krok był przeciwieństwem miłości.</a:t>
            </a:r>
            <a:br/>
            <a:r>
              <a:rPr sz="2000" b="0" i="0">
                <a:solidFill>
                  <a:srgbClr val="5A5A5A"/>
                </a:solidFill>
                <a:latin typeface="Arial"/>
              </a:rPr>
              <a:t>Nie żeby jedno zasłaniało drugie — żeby jedno drugie oświetlało.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210312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Nie każda historia mieści się w gablocie.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Czasem śpi w szufladzie — w liście, fotografii,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czasem budzi się w głosie starszej pani,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w jednym zdaniu, które drży od wspomnień.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Miasto może stać się salą muzealną,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ulica — ścieżką, dworzec — opowieścią.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Mieszkańcy przyniosą swoje historie,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a młodzi pomogą im nie zamilknąć.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Wtedy muzeum nie oddziela od życia.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Arial"/>
              </a:rPr>
              <a:t>Idzie obok, słucha, podaje głos.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16. NAUCZYCIELE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Nauczyciel doceniony nie odpuszcza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Nagroda im. Ireny Sendlerowej „Za naprawianie świata” (od 2006 r.) — dla nauczycieli uczących tolerancji i szacunku; nagroda pieniężna dla laureata.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EUSTORY — sieć konkursów historycznych (Körber-Stiftung, ponad 20 krajów, ponad 300 tys. uczestników).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Polskie ogniwa: „Historia Bliska” (KARTA, od 1996 r.) i „Moje życie w PRL” (Fundacja Geremka) — wywiad wideo 7–8 min z bliską osobą, wsparcie mentora, nagrody także dla nauczycieli-opiekunów.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 kalendarzu szkoły: Nauczyciel Roku oraz Nauczyciel Jutr@ (z Fundacją Orange).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17.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5132"/>
                </a:solidFill>
                <a:latin typeface="Arial"/>
              </a:rPr>
              <a:t>Pięć kroków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1. Zapisać wspomnienia. Dopóki jeszcze są.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2. Współdecydować z mieszkańcami. Nie konsultować — współdecydować.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3. Udostępnić zbiory cyfrowo. Dziedzictwo zamknięte w magazynie nie istnieje.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4. Wyjść ze sztuką w miasto. Na ulicę Ofiar Oświęcimskich. Na dworzec. Na trasę marszu.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5. Włączyć wszystkie pokolenia.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C9821A"/>
                </a:solidFill>
                <a:latin typeface="Arial"/>
              </a:rPr>
              <a:t>Umowa szkoła–muzeum i kalendarz w rytmie rocznic: nagrania jesienią, marsz w styczniu, wystawa w maju.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011680" cy="50292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ZAKOŃCZENIE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0F5132"/>
                </a:solidFill>
                <a:latin typeface="Arial"/>
              </a:rPr>
              <a:t>Niech ten pałac nadal będzie</a:t>
            </a:r>
            <a:br/>
            <a:r>
              <a:rPr sz="4000" b="1" i="0">
                <a:solidFill>
                  <a:srgbClr val="0F5132"/>
                </a:solidFill>
                <a:latin typeface="Arial"/>
              </a:rPr>
              <a:t>miejscem relacji.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5A5A5A"/>
                </a:solidFill>
                <a:latin typeface="Arial"/>
              </a:rPr>
              <a:t>Dziękuję.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0F5132"/>
                </a:solidFill>
                <a:latin typeface="Arial"/>
              </a:rPr>
              <a:t>Źródła i materiały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•  T. Behrens i in., nowa muzeologia i muzeum partycypacyjne — literatura przedmiotu.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•  P. Hojka, „Kierunek Loslau” (Muzeum w Wodzisławiu Śląskim) — przebieg trasy Marszu Śmierci.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•  Gunter Demnig / Stolpersteine: stolpersteine.eu — liczba kamieni, koszt, procedura.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•  Hubertus von Pilgrim — 22 identyczne pomniki wzdłuż trasy marszu z Dachau (jedna kopia w Yad Vashem).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•  Ogród Sprawiedliwych: Mediolan (2003), Warszawa (2014) — m.in. ogrodsprawiedliwych.pl.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•  Nagroda im. Ireny Sendlerowej „Za naprawianie świata” — Centrum Edukacji Obywatelskiej.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•  EUSTORY (Körber-Stiftung); „Historia Bliska” (KARTA); „Moje życie w PRL” (Fundacja Geremka).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•  Wzorce dostępu: bon kulturowy (Francja, Włochy, Hiszpania); wolny wstęp do muzeów narodowych w Wielkiej Brytanii od 2001 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